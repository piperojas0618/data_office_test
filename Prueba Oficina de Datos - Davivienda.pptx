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72A"/>
    <a:srgbClr val="D8C58B"/>
    <a:srgbClr val="FE8E66"/>
    <a:srgbClr val="C59E9E"/>
    <a:srgbClr val="B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E69E4-1F74-449E-80FD-50FF7EE9E175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27B60-0909-41AC-8938-AAD83EC4DC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1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939EB-FC91-531F-F0C8-1239F98C7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AA1EE5-79B6-47D2-55B7-4B5A22424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11477-6BBA-C9DF-6E51-963E242D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C78B0-077F-AB47-B3CA-387BC0B9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BDF98F-FFEC-64D9-C8F2-4EA5253E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DEE09-D67E-4186-FF41-9A9E96BD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50A63C-A868-C528-F372-A2C6F7C4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73218A-6D13-EE73-7EAE-621AEECA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FF60E-621C-6702-7237-D83166D8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D3159-98D1-695C-8EC1-6345DEF9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4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65DB3-A23B-F7EA-9DEF-0AA4CF5A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9C4A73-997A-6916-077E-E565F72AD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AB089D-091F-5203-AD5B-24746B3B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E3E5A-0D64-A342-1CCC-8D467FCF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08F66-C024-0384-B7A9-6D6A56CC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5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9F035-E7EC-D690-F88A-8330B6BF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E8C527-356C-8144-75DE-BD7AF6B10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7258D-D5A5-1A43-C2C3-9AB2FFB1A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D13963-DCA8-2169-7687-350B4962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2903E4-2E91-141E-83E7-C97A4DAC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0CF203-A326-9587-6208-97A49267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3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EE8E-0391-4E4B-AC34-40576373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9424C7-D739-9B60-4ACA-BB86AE20A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E406AE-F36F-6D34-ABA5-AE8D1F416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BAD2D4-1103-504F-4172-42C501B4D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5D699A-52BE-4EA1-F4A5-9C961C107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0B35F9-CD92-315A-CD4F-06E0D16E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5F1C2D-B72B-1245-61AF-35E9E529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1211B2-D6AD-3E01-94AF-69CC5755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0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14EF9-55DD-FC93-F1E7-DCA577D2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BF7597-6C8D-7C73-1B0F-AF4FFC8B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D8A24E-6C12-B774-EBE9-6399B0A8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BCC2F8-8492-ACDB-7EBA-E0C508E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0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CC5E5DF-8B41-8A47-7FFF-31D3688C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DC3A8A-9016-793F-EAED-3933056C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0EC37D-C3AD-3DE7-AD02-31732520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2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CF0C2-354E-A66C-35B6-EAA4A547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62BE9E-C11D-0E97-C663-77642B11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82D3C7-C154-F5BF-954B-D343951E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AB29B-F9EC-7F4C-117F-EE928E0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638128-CB58-26CC-8C21-AACD01AE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9E7248-36FD-F2B7-C4D4-E051892F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63DBF-4513-87D5-FB90-FA30E12C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349824-5435-2117-F84F-AEDE03FA7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ACF8CE-CBE1-EF32-CED2-1D2F4E719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C657E4-7ADD-21BB-83F7-E8324E244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5795D3-C6A3-29BA-74DC-8DBB841F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B49AD8-0996-5551-CCBC-306AF4A5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2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E9182-CB7C-1879-F9FB-48FBACAD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31633D-999A-4FBA-4AD9-4F7C8965D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9BB3D9-8187-0E3A-9ED8-CBD4CA79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42AF5A-2B3C-F561-047C-00F5DA8A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AE873-C324-8ED9-9378-A2030CDB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6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2B3AF9-CE00-F573-DBE5-7B68A2232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B3F07C-87A1-8B18-D290-D7487DAF1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EC679C-423E-9C1F-B676-C71E9FF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B37101-6D78-79BE-F8B9-808B3019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C3521B-EA1C-B930-F662-B0355FDE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8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98E3A3-0E57-F363-F1F2-7F6D1606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85120-8289-2E7C-07A7-DB8A08F5B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6408C-FCB2-B455-BFBC-0663F6E5A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E923-B2D1-481C-95F7-E517C0585D24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FF796A-A89C-1BC0-7D6E-D1835104E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AF0269-2C9C-9BA7-DD78-4E62ABF00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C0966-15DE-4D2C-A35C-6E40A6455D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5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967C5E-E55C-8B64-C1A2-81A5878C2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s-419" sz="36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Prueba Oficina de Datos - Davivienda</a:t>
            </a:r>
            <a:endParaRPr lang="en-US" sz="3600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D9F547-0553-7DDC-8D8A-822877740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s-419" sz="2000" dirty="0">
                <a:solidFill>
                  <a:srgbClr val="080808"/>
                </a:solidFill>
              </a:rPr>
              <a:t>Felipe Rojas Diaz</a:t>
            </a:r>
          </a:p>
          <a:p>
            <a:endParaRPr lang="en-US" sz="2000" dirty="0">
              <a:solidFill>
                <a:srgbClr val="080808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9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F5CDA-2AB2-6406-1CF2-479DA948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337"/>
            <a:ext cx="10515600" cy="945567"/>
          </a:xfrm>
        </p:spPr>
        <p:txBody>
          <a:bodyPr/>
          <a:lstStyle/>
          <a:p>
            <a:r>
              <a:rPr lang="es-419" dirty="0">
                <a:solidFill>
                  <a:srgbClr val="FF0000"/>
                </a:solidFill>
                <a:latin typeface="Kristen ITC" panose="03050502040202030202" pitchFamily="66" charset="0"/>
                <a:cs typeface="Cascadia Code" panose="020B0609020000020004" pitchFamily="49" charset="0"/>
              </a:rPr>
              <a:t>El Problema</a:t>
            </a:r>
            <a:endParaRPr lang="en-US" dirty="0">
              <a:solidFill>
                <a:srgbClr val="FF0000"/>
              </a:solidFill>
              <a:latin typeface="Kristen ITC" panose="03050502040202030202" pitchFamily="66" charset="0"/>
              <a:cs typeface="Cascadia Code" panose="020B06090200000200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AC161-F012-DA21-3CE3-579917D87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969"/>
            <a:ext cx="9360159" cy="945567"/>
          </a:xfrm>
        </p:spPr>
        <p:txBody>
          <a:bodyPr/>
          <a:lstStyle/>
          <a:p>
            <a:r>
              <a:rPr lang="es-ES" b="0" i="0" dirty="0">
                <a:effectLst/>
                <a:latin typeface="Inter"/>
              </a:rPr>
              <a:t>Un banco quiere determinar cuales de sus clientes aceptaran adquirir un CDT a un plazo determinado y cuales no. </a:t>
            </a:r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6C9A51F-638B-040E-A3B2-5D26AEBF0FA4}"/>
              </a:ext>
            </a:extLst>
          </p:cNvPr>
          <p:cNvSpPr txBox="1">
            <a:spLocks/>
          </p:cNvSpPr>
          <p:nvPr/>
        </p:nvSpPr>
        <p:spPr>
          <a:xfrm>
            <a:off x="838200" y="2148536"/>
            <a:ext cx="10515600" cy="945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>
                <a:solidFill>
                  <a:srgbClr val="FF0000"/>
                </a:solidFill>
                <a:latin typeface="Kristen ITC" panose="03050502040202030202" pitchFamily="66" charset="0"/>
                <a:cs typeface="Cascadia Code" panose="020B0609020000020004" pitchFamily="49" charset="0"/>
              </a:rPr>
              <a:t>¿Qué hacer?</a:t>
            </a:r>
            <a:endParaRPr lang="en-US" dirty="0">
              <a:solidFill>
                <a:srgbClr val="FF0000"/>
              </a:solidFill>
              <a:latin typeface="Kristen ITC" panose="03050502040202030202" pitchFamily="66" charset="0"/>
              <a:cs typeface="Cascadia Code" panose="020B0609020000020004" pitchFamily="49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740592-D941-B0AE-320C-2AF73131DA68}"/>
              </a:ext>
            </a:extLst>
          </p:cNvPr>
          <p:cNvSpPr txBox="1">
            <a:spLocks/>
          </p:cNvSpPr>
          <p:nvPr/>
        </p:nvSpPr>
        <p:spPr>
          <a:xfrm>
            <a:off x="838199" y="4024735"/>
            <a:ext cx="10515600" cy="945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>
                <a:solidFill>
                  <a:srgbClr val="FF0000"/>
                </a:solidFill>
                <a:latin typeface="Kristen ITC" panose="03050502040202030202" pitchFamily="66" charset="0"/>
              </a:rPr>
              <a:t>¿Cómo?</a:t>
            </a:r>
            <a:endParaRPr lang="en-US" dirty="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EB85574-19A2-6495-1FC0-BB0B971E39FD}"/>
              </a:ext>
            </a:extLst>
          </p:cNvPr>
          <p:cNvSpPr txBox="1">
            <a:spLocks/>
          </p:cNvSpPr>
          <p:nvPr/>
        </p:nvSpPr>
        <p:spPr>
          <a:xfrm>
            <a:off x="838199" y="3079168"/>
            <a:ext cx="9360159" cy="945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0" i="0" dirty="0">
                <a:effectLst/>
                <a:latin typeface="Inter"/>
              </a:rPr>
              <a:t>Invertir en campañas de marketing para lograr captar la mayor cantidad de recursos</a:t>
            </a:r>
            <a:endParaRPr lang="en-US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A20625A-BF2B-143C-8CB6-F16AEA5E3774}"/>
              </a:ext>
            </a:extLst>
          </p:cNvPr>
          <p:cNvSpPr txBox="1">
            <a:spLocks/>
          </p:cNvSpPr>
          <p:nvPr/>
        </p:nvSpPr>
        <p:spPr>
          <a:xfrm>
            <a:off x="838199" y="4970302"/>
            <a:ext cx="9360159" cy="945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Inter"/>
              </a:rPr>
              <a:t>U</a:t>
            </a:r>
            <a:r>
              <a:rPr lang="es-ES" b="0" i="0" dirty="0">
                <a:effectLst/>
                <a:latin typeface="Inter"/>
              </a:rPr>
              <a:t>n modelo de clasificación que logre diferenciar entre los clientes con alta probabilidad de aceptar y aquellos que no.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0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AF87CB-6AE7-E267-5AFD-0008B71E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073" y="272641"/>
            <a:ext cx="7681757" cy="1135737"/>
          </a:xfrm>
        </p:spPr>
        <p:txBody>
          <a:bodyPr>
            <a:normAutofit/>
          </a:bodyPr>
          <a:lstStyle/>
          <a:p>
            <a:r>
              <a:rPr lang="es-419" sz="3600" dirty="0">
                <a:solidFill>
                  <a:srgbClr val="FF0000"/>
                </a:solidFill>
                <a:latin typeface="Kristen ITC" panose="03050502040202030202" pitchFamily="66" charset="0"/>
              </a:rPr>
              <a:t>EDA (</a:t>
            </a:r>
            <a:r>
              <a:rPr lang="es-419" sz="3600" dirty="0" err="1">
                <a:solidFill>
                  <a:srgbClr val="FF0000"/>
                </a:solidFill>
                <a:latin typeface="Kristen ITC" panose="03050502040202030202" pitchFamily="66" charset="0"/>
              </a:rPr>
              <a:t>Exploratory</a:t>
            </a:r>
            <a:r>
              <a:rPr lang="es-419" sz="3600" dirty="0">
                <a:solidFill>
                  <a:srgbClr val="FF0000"/>
                </a:solidFill>
                <a:latin typeface="Kristen ITC" panose="03050502040202030202" pitchFamily="66" charset="0"/>
              </a:rPr>
              <a:t> Data </a:t>
            </a:r>
            <a:r>
              <a:rPr lang="es-419" sz="3600" dirty="0" err="1">
                <a:solidFill>
                  <a:srgbClr val="FF0000"/>
                </a:solidFill>
                <a:latin typeface="Kristen ITC" panose="03050502040202030202" pitchFamily="66" charset="0"/>
              </a:rPr>
              <a:t>Analysis</a:t>
            </a:r>
            <a:r>
              <a:rPr lang="es-419" sz="3600" dirty="0">
                <a:solidFill>
                  <a:srgbClr val="FF0000"/>
                </a:solidFill>
                <a:latin typeface="Kristen ITC" panose="03050502040202030202" pitchFamily="66" charset="0"/>
              </a:rPr>
              <a:t>)</a:t>
            </a:r>
            <a:endParaRPr lang="en-US" sz="3600" dirty="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95CDB0-7ED3-A3A7-5546-54DF79A91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s-US" sz="2000"/>
              <a:t>Entender el significado de cada variable.</a:t>
            </a:r>
          </a:p>
          <a:p>
            <a:endParaRPr lang="es-US" sz="2000"/>
          </a:p>
          <a:p>
            <a:r>
              <a:rPr lang="es-419" sz="2000"/>
              <a:t>Revisar los datos en general.</a:t>
            </a:r>
          </a:p>
          <a:p>
            <a:pPr lvl="1"/>
            <a:r>
              <a:rPr lang="es-419" sz="2000"/>
              <a:t>Datos Nulos</a:t>
            </a:r>
          </a:p>
          <a:p>
            <a:pPr lvl="1"/>
            <a:r>
              <a:rPr lang="es-419" sz="2000"/>
              <a:t>Estadísticas descriptivas</a:t>
            </a:r>
            <a:endParaRPr lang="en-US" sz="2000"/>
          </a:p>
          <a:p>
            <a:pPr lvl="1"/>
            <a:endParaRPr lang="es-419" sz="2000"/>
          </a:p>
          <a:p>
            <a:r>
              <a:rPr lang="es-419" sz="2000"/>
              <a:t>Representación gráfica por columna</a:t>
            </a:r>
          </a:p>
          <a:p>
            <a:pPr lvl="1"/>
            <a:r>
              <a:rPr lang="es-419" sz="2000"/>
              <a:t>Boxplots o barras.</a:t>
            </a:r>
          </a:p>
          <a:p>
            <a:pPr lvl="1"/>
            <a:endParaRPr lang="es-419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n 6" descr="Imagen que contiene Icono&#10;&#10;Descripción generada automáticamente">
            <a:extLst>
              <a:ext uri="{FF2B5EF4-FFF2-40B4-BE49-F238E27FC236}">
                <a16:creationId xmlns:a16="http://schemas.microsoft.com/office/drawing/2014/main" id="{3A9E5B26-6ECC-8283-12C3-C2720FD8E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319" y="3248421"/>
            <a:ext cx="6253212" cy="2845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CC80D4-5D12-0FD9-490A-B71E5B62FC21}"/>
              </a:ext>
            </a:extLst>
          </p:cNvPr>
          <p:cNvSpPr txBox="1"/>
          <p:nvPr/>
        </p:nvSpPr>
        <p:spPr>
          <a:xfrm>
            <a:off x="962615" y="6358699"/>
            <a:ext cx="102566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https://www.analyticsvidhya.com/blog/2021/05/exploratory-data-analysis-eda-a-step-by-step-guide</a:t>
            </a:r>
            <a:endParaRPr lang="en-US" dirty="0"/>
          </a:p>
        </p:txBody>
      </p:sp>
      <p:pic>
        <p:nvPicPr>
          <p:cNvPr id="5" name="Imagen 4" descr="Pantalla de computadora con números&#10;&#10;Descripción generada automáticamente con confianza media">
            <a:extLst>
              <a:ext uri="{FF2B5EF4-FFF2-40B4-BE49-F238E27FC236}">
                <a16:creationId xmlns:a16="http://schemas.microsoft.com/office/drawing/2014/main" id="{C8439783-0439-2AFC-8085-31A0F4D92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60" y="1386450"/>
            <a:ext cx="7562406" cy="180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4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8B5D5FD-DF90-8850-BE22-8DCD47B45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1062"/>
            <a:ext cx="5294716" cy="513587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D57C5CDF-FFB1-EB4C-C12F-C601A5CF6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847826"/>
            <a:ext cx="5294715" cy="51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31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451A0-3F77-7B89-E889-60DBD786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05" y="691801"/>
            <a:ext cx="5968220" cy="2122269"/>
          </a:xfrm>
        </p:spPr>
        <p:txBody>
          <a:bodyPr>
            <a:normAutofit/>
          </a:bodyPr>
          <a:lstStyle/>
          <a:p>
            <a:r>
              <a:rPr lang="es-419" sz="2000" dirty="0"/>
              <a:t>Correlación y Chi Cuadrado</a:t>
            </a:r>
          </a:p>
          <a:p>
            <a:pPr lvl="1"/>
            <a:r>
              <a:rPr lang="es-419" sz="2000" dirty="0"/>
              <a:t>Mapas de calor</a:t>
            </a:r>
          </a:p>
          <a:p>
            <a:pPr lvl="1"/>
            <a:r>
              <a:rPr lang="es-419" sz="2000" dirty="0"/>
              <a:t>Correlación con método “Pearson”</a:t>
            </a:r>
          </a:p>
          <a:p>
            <a:pPr lvl="1"/>
            <a:r>
              <a:rPr lang="es-419" sz="2000" dirty="0"/>
              <a:t>Chi Cuadrado con p-value &lt;= 0.05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 descr="Interfaz de usuario gráfica, Gráfico de rectángulos&#10;&#10;Descripción generada automáticamente">
            <a:extLst>
              <a:ext uri="{FF2B5EF4-FFF2-40B4-BE49-F238E27FC236}">
                <a16:creationId xmlns:a16="http://schemas.microsoft.com/office/drawing/2014/main" id="{93789790-C28F-746C-89E3-00C010855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92" y="2402513"/>
            <a:ext cx="4485708" cy="4216564"/>
          </a:xfrm>
          <a:prstGeom prst="rect">
            <a:avLst/>
          </a:prstGeom>
        </p:spPr>
      </p:pic>
      <p:pic>
        <p:nvPicPr>
          <p:cNvPr id="7" name="Imagen 6" descr="Sitio web&#10;&#10;Descripción generada automáticamente con confianza media">
            <a:extLst>
              <a:ext uri="{FF2B5EF4-FFF2-40B4-BE49-F238E27FC236}">
                <a16:creationId xmlns:a16="http://schemas.microsoft.com/office/drawing/2014/main" id="{7BDA3AED-36F9-33E4-49D1-419125876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587" y="2402513"/>
            <a:ext cx="4485708" cy="421656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BFB8929-BA89-7A78-5954-14E0827CBF12}"/>
              </a:ext>
            </a:extLst>
          </p:cNvPr>
          <p:cNvSpPr txBox="1"/>
          <p:nvPr/>
        </p:nvSpPr>
        <p:spPr>
          <a:xfrm>
            <a:off x="267328" y="6619077"/>
            <a:ext cx="60975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https://medium.com/@ritesh.110587/correlation-between-categorical-variables-63f6bd9bf2f7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9DB58BF-DC13-E436-F5E7-A65FCA242EEC}"/>
              </a:ext>
            </a:extLst>
          </p:cNvPr>
          <p:cNvSpPr txBox="1"/>
          <p:nvPr/>
        </p:nvSpPr>
        <p:spPr>
          <a:xfrm>
            <a:off x="6229664" y="6623893"/>
            <a:ext cx="60975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https://pbpython.com/pandas-crosstab.html</a:t>
            </a:r>
          </a:p>
        </p:txBody>
      </p:sp>
    </p:spTree>
    <p:extLst>
      <p:ext uri="{BB962C8B-B14F-4D97-AF65-F5344CB8AC3E}">
        <p14:creationId xmlns:p14="http://schemas.microsoft.com/office/powerpoint/2010/main" val="247325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AC8405-ECD0-835B-2BA7-1F89A1ED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s-419" sz="3600">
                <a:solidFill>
                  <a:srgbClr val="FF0000"/>
                </a:solidFill>
                <a:latin typeface="Kristen ITC" panose="03050502040202030202" pitchFamily="66" charset="0"/>
              </a:rPr>
              <a:t>Procesamiento de Datos</a:t>
            </a:r>
            <a:endParaRPr lang="en-US" sz="360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E54E5E-3CC2-F992-F431-1B4CD8D06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s-419" sz="2000"/>
              <a:t>Se hace procesamiento de los datos para que, al entrenar el modelo este los pueda leer e interpretar de manera mas sencilla. </a:t>
            </a:r>
          </a:p>
          <a:p>
            <a:r>
              <a:rPr lang="es-419" sz="2000"/>
              <a:t>Para variables categóricas</a:t>
            </a:r>
          </a:p>
          <a:p>
            <a:pPr lvl="1"/>
            <a:r>
              <a:rPr lang="es-419" sz="2000"/>
              <a:t>OrdinalEncoder()</a:t>
            </a:r>
          </a:p>
          <a:p>
            <a:r>
              <a:rPr lang="es-419" sz="2000"/>
              <a:t>Para variables numéricas</a:t>
            </a:r>
          </a:p>
          <a:p>
            <a:pPr lvl="1"/>
            <a:r>
              <a:rPr lang="es-419" sz="2000"/>
              <a:t>StandardScaler()</a:t>
            </a:r>
            <a:endParaRPr lang="en-US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marL="457200" lvl="1" indent="0">
              <a:buNone/>
            </a:pPr>
            <a:endParaRPr lang="es-419" sz="2000"/>
          </a:p>
          <a:p>
            <a:pPr lvl="1"/>
            <a:endParaRPr lang="es-419" sz="2000"/>
          </a:p>
          <a:p>
            <a:endParaRPr lang="es-419" sz="2000"/>
          </a:p>
          <a:p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  <a:p>
            <a:pPr lvl="1"/>
            <a:endParaRPr lang="es-419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n 4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593EEE00-C888-975C-674A-8267A0A3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840" y="866726"/>
            <a:ext cx="3705719" cy="303281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n 6" descr="Diagrama, Tabla&#10;&#10;Descripción generada automáticamente">
            <a:extLst>
              <a:ext uri="{FF2B5EF4-FFF2-40B4-BE49-F238E27FC236}">
                <a16:creationId xmlns:a16="http://schemas.microsoft.com/office/drawing/2014/main" id="{A16EBBC3-067E-ED26-B19F-FF0C495A9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587" y="3979972"/>
            <a:ext cx="4650224" cy="261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2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6BBA61-719E-5572-6753-6A1A05ED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020" y="113168"/>
            <a:ext cx="6641851" cy="1135737"/>
          </a:xfrm>
        </p:spPr>
        <p:txBody>
          <a:bodyPr>
            <a:normAutofit/>
          </a:bodyPr>
          <a:lstStyle/>
          <a:p>
            <a:r>
              <a:rPr lang="es-419" sz="3600">
                <a:solidFill>
                  <a:srgbClr val="FF0000"/>
                </a:solidFill>
                <a:latin typeface="Kristen ITC" panose="03050502040202030202" pitchFamily="66" charset="0"/>
              </a:rPr>
              <a:t>Entrenamiento del Modelo</a:t>
            </a:r>
            <a:endParaRPr lang="en-US" sz="360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3705CC-E5B8-4C30-E9B9-EA9BE5669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s-419" sz="2000"/>
              <a:t>Train Test Split</a:t>
            </a:r>
          </a:p>
          <a:p>
            <a:pPr lvl="1"/>
            <a:r>
              <a:rPr lang="es-419" sz="2000"/>
              <a:t>70 % datos para entrenar, 30% datos para validar</a:t>
            </a:r>
          </a:p>
          <a:p>
            <a:r>
              <a:rPr lang="es-419" sz="2000"/>
              <a:t>Modelo de regresión logística</a:t>
            </a:r>
          </a:p>
          <a:p>
            <a:pPr lvl="1"/>
            <a:r>
              <a:rPr lang="es-419" sz="2000"/>
              <a:t>Máximo 500 iteraciones</a:t>
            </a:r>
          </a:p>
          <a:p>
            <a:pPr lvl="1"/>
            <a:r>
              <a:rPr lang="es-419" sz="2000"/>
              <a:t>Balanceo de clases propio del algoritmo</a:t>
            </a:r>
          </a:p>
          <a:p>
            <a:r>
              <a:rPr lang="es-419" sz="2000"/>
              <a:t>Balanceo de clases</a:t>
            </a:r>
          </a:p>
          <a:p>
            <a:pPr lvl="1"/>
            <a:r>
              <a:rPr lang="es-419" sz="2000"/>
              <a:t>SMOTE - </a:t>
            </a:r>
            <a:r>
              <a:rPr lang="en-US" sz="2000" b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Synthetic Minority Over-sampling Technique</a:t>
            </a:r>
            <a:endParaRPr lang="en-US" sz="2000"/>
          </a:p>
          <a:p>
            <a:pPr lvl="1"/>
            <a:endParaRPr lang="es-419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n 4" descr="Imagen que contiene alimentos, dibujo&#10;&#10;Descripción generada automáticamente">
            <a:extLst>
              <a:ext uri="{FF2B5EF4-FFF2-40B4-BE49-F238E27FC236}">
                <a16:creationId xmlns:a16="http://schemas.microsoft.com/office/drawing/2014/main" id="{C1CAC39D-9D2A-884A-1722-959FDA0E0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946" y="1457471"/>
            <a:ext cx="4756309" cy="211655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n 6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3700153C-1DC9-B3A7-31E9-3AA47B2088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7"/>
          <a:stretch/>
        </p:blipFill>
        <p:spPr>
          <a:xfrm>
            <a:off x="6066596" y="3933826"/>
            <a:ext cx="4710659" cy="268525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F555F2D7-4F90-DFB4-CE35-DAE6B4858AE4}"/>
              </a:ext>
            </a:extLst>
          </p:cNvPr>
          <p:cNvSpPr txBox="1"/>
          <p:nvPr/>
        </p:nvSpPr>
        <p:spPr>
          <a:xfrm>
            <a:off x="136849" y="6501116"/>
            <a:ext cx="51722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https://www.analyticsvidhya.com/blog/2020/07/10-techniques-to-deal-with-class-imbalance-in-machine-learning/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68605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C62C7-028D-3C50-6E16-CA3E675B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24" y="29689"/>
            <a:ext cx="6915150" cy="1195068"/>
          </a:xfrm>
        </p:spPr>
        <p:txBody>
          <a:bodyPr/>
          <a:lstStyle/>
          <a:p>
            <a:r>
              <a:rPr lang="es-419" dirty="0">
                <a:solidFill>
                  <a:srgbClr val="FF0000"/>
                </a:solidFill>
                <a:latin typeface="Kristen ITC" panose="03050502040202030202" pitchFamily="66" charset="0"/>
              </a:rPr>
              <a:t>Resultados Preliminares</a:t>
            </a:r>
            <a:endParaRPr lang="en-US" dirty="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210A5E-0FC3-00B8-481B-3ACA93C3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525" y="1224757"/>
            <a:ext cx="4552950" cy="3632994"/>
          </a:xfrm>
        </p:spPr>
        <p:txBody>
          <a:bodyPr>
            <a:normAutofit lnSpcReduction="10000"/>
          </a:bodyPr>
          <a:lstStyle/>
          <a:p>
            <a:r>
              <a:rPr lang="es-419" dirty="0"/>
              <a:t>ROC – AUC score</a:t>
            </a:r>
          </a:p>
          <a:p>
            <a:pPr lvl="1"/>
            <a:r>
              <a:rPr lang="en-US" b="0" i="0" u="sng" dirty="0">
                <a:effectLst/>
                <a:latin typeface="Consolas" panose="020B0609020204030204" pitchFamily="49" charset="0"/>
              </a:rPr>
              <a:t>0.7166946596938581</a:t>
            </a:r>
            <a:endParaRPr lang="es-419" u="sng" dirty="0"/>
          </a:p>
          <a:p>
            <a:r>
              <a:rPr lang="es-419" dirty="0"/>
              <a:t>Reporte clasificación</a:t>
            </a:r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r>
              <a:rPr lang="es-419" dirty="0"/>
              <a:t>Matriz de confusión</a:t>
            </a:r>
          </a:p>
          <a:p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04F204-BCF3-D941-E068-F76F5F85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627" y="2550319"/>
            <a:ext cx="3520745" cy="1615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67E355-4EBA-24AA-8B25-75EE2B9B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49" y="5004908"/>
            <a:ext cx="2171700" cy="175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7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8EFD2-1B74-CFB0-1FA1-C5A5F259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4359"/>
          </a:xfrm>
        </p:spPr>
        <p:txBody>
          <a:bodyPr>
            <a:normAutofit/>
          </a:bodyPr>
          <a:lstStyle/>
          <a:p>
            <a:r>
              <a:rPr lang="es-419" sz="4000" dirty="0">
                <a:solidFill>
                  <a:srgbClr val="FF0000"/>
                </a:solidFill>
                <a:latin typeface="Kristen ITC" panose="03050502040202030202" pitchFamily="66" charset="0"/>
              </a:rPr>
              <a:t>Optimización Hiper parámetros y otros modelos</a:t>
            </a:r>
            <a:endParaRPr lang="en-US" sz="4000" dirty="0">
              <a:solidFill>
                <a:srgbClr val="FF0000"/>
              </a:solidFill>
              <a:latin typeface="Kristen ITC" panose="03050502040202030202" pitchFamily="66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F2B044A-4438-1A9F-81CD-B419EB47BA66}"/>
              </a:ext>
            </a:extLst>
          </p:cNvPr>
          <p:cNvSpPr/>
          <p:nvPr/>
        </p:nvSpPr>
        <p:spPr>
          <a:xfrm>
            <a:off x="1390261" y="1222310"/>
            <a:ext cx="2220685" cy="429208"/>
          </a:xfrm>
          <a:prstGeom prst="rect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Regresión Logística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FD8194-EE52-0AFE-9A90-0EBA5EFAA255}"/>
              </a:ext>
            </a:extLst>
          </p:cNvPr>
          <p:cNvSpPr/>
          <p:nvPr/>
        </p:nvSpPr>
        <p:spPr>
          <a:xfrm>
            <a:off x="8322907" y="1224641"/>
            <a:ext cx="2220685" cy="429208"/>
          </a:xfrm>
          <a:prstGeom prst="rect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Bosque Aleatorio</a:t>
            </a:r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423B5D-1EA0-CB3D-E0BE-9B91B6DBE138}"/>
              </a:ext>
            </a:extLst>
          </p:cNvPr>
          <p:cNvSpPr/>
          <p:nvPr/>
        </p:nvSpPr>
        <p:spPr>
          <a:xfrm>
            <a:off x="1390260" y="3974840"/>
            <a:ext cx="2220685" cy="429208"/>
          </a:xfrm>
          <a:prstGeom prst="rect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Impulso de Gradiente</a:t>
            </a:r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23CE981-AAB4-0C5A-2623-3E57666782E2}"/>
              </a:ext>
            </a:extLst>
          </p:cNvPr>
          <p:cNvSpPr/>
          <p:nvPr/>
        </p:nvSpPr>
        <p:spPr>
          <a:xfrm>
            <a:off x="8322906" y="3974840"/>
            <a:ext cx="2220685" cy="429208"/>
          </a:xfrm>
          <a:prstGeom prst="rect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/>
              <a:t>XGBoost</a:t>
            </a:r>
            <a:endParaRPr lang="en-U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0F1B554-E83E-C170-BBD8-26EC05746AC9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flipH="1">
            <a:off x="1508450" y="1651518"/>
            <a:ext cx="992154" cy="494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E69CE02-7BF6-2423-BAFC-A055E30CD973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2500604" y="1651518"/>
            <a:ext cx="855308" cy="4945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A9658EB2-284B-BFEB-6776-7B18580C390F}"/>
              </a:ext>
            </a:extLst>
          </p:cNvPr>
          <p:cNvSpPr/>
          <p:nvPr/>
        </p:nvSpPr>
        <p:spPr>
          <a:xfrm>
            <a:off x="821094" y="2146040"/>
            <a:ext cx="1374711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Penalidad</a:t>
            </a:r>
            <a:endParaRPr lang="en-US" sz="1400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BAF711C-9D70-6246-144E-9BF2076DE9BC}"/>
              </a:ext>
            </a:extLst>
          </p:cNvPr>
          <p:cNvSpPr/>
          <p:nvPr/>
        </p:nvSpPr>
        <p:spPr>
          <a:xfrm>
            <a:off x="2668556" y="2146040"/>
            <a:ext cx="1374711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C</a:t>
            </a:r>
            <a:endParaRPr lang="en-US" sz="14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3DACE82-25ED-B2A9-F16E-C40FD6A2D31B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 flipH="1">
            <a:off x="7660434" y="1653849"/>
            <a:ext cx="1772816" cy="492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9F55517-9E1D-25E0-EE44-8D2E7F4308A0}"/>
              </a:ext>
            </a:extLst>
          </p:cNvPr>
          <p:cNvCxnSpPr>
            <a:cxnSpLocks/>
            <a:stCxn id="5" idx="2"/>
            <a:endCxn id="36" idx="0"/>
          </p:cNvCxnSpPr>
          <p:nvPr/>
        </p:nvCxnSpPr>
        <p:spPr>
          <a:xfrm flipH="1">
            <a:off x="8630818" y="1653849"/>
            <a:ext cx="802432" cy="1014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0BD3F00-68FA-9FCA-3572-242EF7F0CEA4}"/>
              </a:ext>
            </a:extLst>
          </p:cNvPr>
          <p:cNvCxnSpPr>
            <a:cxnSpLocks/>
            <a:stCxn id="5" idx="2"/>
            <a:endCxn id="44" idx="0"/>
          </p:cNvCxnSpPr>
          <p:nvPr/>
        </p:nvCxnSpPr>
        <p:spPr>
          <a:xfrm>
            <a:off x="9433250" y="1653849"/>
            <a:ext cx="855305" cy="1014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9E5C123-B11D-62BB-16E0-30B624C1349E}"/>
              </a:ext>
            </a:extLst>
          </p:cNvPr>
          <p:cNvCxnSpPr>
            <a:cxnSpLocks/>
            <a:stCxn id="5" idx="2"/>
            <a:endCxn id="50" idx="0"/>
          </p:cNvCxnSpPr>
          <p:nvPr/>
        </p:nvCxnSpPr>
        <p:spPr>
          <a:xfrm>
            <a:off x="9433250" y="1653849"/>
            <a:ext cx="1723827" cy="492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62550513-C14D-A158-6E8F-9E61ECD7D03D}"/>
              </a:ext>
            </a:extLst>
          </p:cNvPr>
          <p:cNvSpPr/>
          <p:nvPr/>
        </p:nvSpPr>
        <p:spPr>
          <a:xfrm>
            <a:off x="6858001" y="2146040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Estimadores</a:t>
            </a:r>
            <a:endParaRPr lang="en-US" sz="1400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221551E4-68B0-709C-9BEF-269170962FF8}"/>
              </a:ext>
            </a:extLst>
          </p:cNvPr>
          <p:cNvSpPr/>
          <p:nvPr/>
        </p:nvSpPr>
        <p:spPr>
          <a:xfrm>
            <a:off x="7828385" y="2668555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Profundidad</a:t>
            </a:r>
            <a:endParaRPr lang="en-US" sz="140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2FDE6210-6892-93AF-113F-220ECC7648F8}"/>
              </a:ext>
            </a:extLst>
          </p:cNvPr>
          <p:cNvSpPr/>
          <p:nvPr/>
        </p:nvSpPr>
        <p:spPr>
          <a:xfrm>
            <a:off x="9601199" y="2668555"/>
            <a:ext cx="1374711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Balanceo</a:t>
            </a:r>
            <a:endParaRPr lang="en-US" sz="1400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27D1B511-C0C7-74F7-15E1-51BD23E6B657}"/>
              </a:ext>
            </a:extLst>
          </p:cNvPr>
          <p:cNvSpPr/>
          <p:nvPr/>
        </p:nvSpPr>
        <p:spPr>
          <a:xfrm>
            <a:off x="10251231" y="2146040"/>
            <a:ext cx="1811692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# Características</a:t>
            </a:r>
            <a:endParaRPr lang="en-US" sz="1400" dirty="0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C1EFFF49-FD56-BD45-6B04-7125D765167D}"/>
              </a:ext>
            </a:extLst>
          </p:cNvPr>
          <p:cNvSpPr/>
          <p:nvPr/>
        </p:nvSpPr>
        <p:spPr>
          <a:xfrm>
            <a:off x="802432" y="5803640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Estimadores</a:t>
            </a:r>
            <a:endParaRPr lang="en-US" sz="1400" dirty="0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D6D971CE-F8C1-C32F-9236-400830FBEE60}"/>
              </a:ext>
            </a:extLst>
          </p:cNvPr>
          <p:cNvSpPr/>
          <p:nvPr/>
        </p:nvSpPr>
        <p:spPr>
          <a:xfrm>
            <a:off x="2268894" y="5103844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Profundidad</a:t>
            </a:r>
            <a:endParaRPr lang="en-US" sz="1400" dirty="0"/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CC23C08B-A050-0E61-ABD8-D9A7382A8F7D}"/>
              </a:ext>
            </a:extLst>
          </p:cNvPr>
          <p:cNvSpPr/>
          <p:nvPr/>
        </p:nvSpPr>
        <p:spPr>
          <a:xfrm>
            <a:off x="4012162" y="5803639"/>
            <a:ext cx="1811692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# Características</a:t>
            </a:r>
            <a:endParaRPr lang="en-US" sz="1400" dirty="0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C37A59E7-A468-B60A-1CB1-DFC9A9440D44}"/>
              </a:ext>
            </a:extLst>
          </p:cNvPr>
          <p:cNvSpPr/>
          <p:nvPr/>
        </p:nvSpPr>
        <p:spPr>
          <a:xfrm>
            <a:off x="0" y="5103844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Tasa de aprendizaje</a:t>
            </a:r>
            <a:endParaRPr lang="en-US" sz="1400" dirty="0"/>
          </a:p>
        </p:txBody>
      </p: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F36009BF-5784-194A-B189-6D75598922BA}"/>
              </a:ext>
            </a:extLst>
          </p:cNvPr>
          <p:cNvCxnSpPr>
            <a:stCxn id="6" idx="2"/>
            <a:endCxn id="70" idx="0"/>
          </p:cNvCxnSpPr>
          <p:nvPr/>
        </p:nvCxnSpPr>
        <p:spPr>
          <a:xfrm flipH="1">
            <a:off x="802433" y="4404048"/>
            <a:ext cx="1698170" cy="699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74739F65-9F44-C569-7B07-F91E9F19DF1E}"/>
              </a:ext>
            </a:extLst>
          </p:cNvPr>
          <p:cNvCxnSpPr>
            <a:cxnSpLocks/>
            <a:stCxn id="6" idx="2"/>
            <a:endCxn id="63" idx="0"/>
          </p:cNvCxnSpPr>
          <p:nvPr/>
        </p:nvCxnSpPr>
        <p:spPr>
          <a:xfrm>
            <a:off x="2500603" y="4404048"/>
            <a:ext cx="570724" cy="699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F5581C0-DEF1-91D1-1408-51A972B3C7D8}"/>
              </a:ext>
            </a:extLst>
          </p:cNvPr>
          <p:cNvCxnSpPr>
            <a:cxnSpLocks/>
            <a:stCxn id="6" idx="2"/>
            <a:endCxn id="62" idx="0"/>
          </p:cNvCxnSpPr>
          <p:nvPr/>
        </p:nvCxnSpPr>
        <p:spPr>
          <a:xfrm flipH="1">
            <a:off x="1604865" y="4404048"/>
            <a:ext cx="895738" cy="1399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5647AD2F-2FD1-66F6-2FB7-FB2F0548CC8D}"/>
              </a:ext>
            </a:extLst>
          </p:cNvPr>
          <p:cNvCxnSpPr>
            <a:cxnSpLocks/>
            <a:stCxn id="6" idx="2"/>
            <a:endCxn id="65" idx="0"/>
          </p:cNvCxnSpPr>
          <p:nvPr/>
        </p:nvCxnSpPr>
        <p:spPr>
          <a:xfrm>
            <a:off x="2500603" y="4404048"/>
            <a:ext cx="2417405" cy="1399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>
            <a:extLst>
              <a:ext uri="{FF2B5EF4-FFF2-40B4-BE49-F238E27FC236}">
                <a16:creationId xmlns:a16="http://schemas.microsoft.com/office/drawing/2014/main" id="{278F8DDE-9897-D06F-3C14-5A152C5255DF}"/>
              </a:ext>
            </a:extLst>
          </p:cNvPr>
          <p:cNvSpPr/>
          <p:nvPr/>
        </p:nvSpPr>
        <p:spPr>
          <a:xfrm>
            <a:off x="6586669" y="5797600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Tasa de aprendizaje</a:t>
            </a:r>
            <a:endParaRPr lang="en-US" sz="1400" dirty="0"/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0607997F-BC5F-1116-AA98-9DBDEE5D4BC7}"/>
              </a:ext>
            </a:extLst>
          </p:cNvPr>
          <p:cNvSpPr/>
          <p:nvPr/>
        </p:nvSpPr>
        <p:spPr>
          <a:xfrm>
            <a:off x="8610326" y="5803639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Profundidad</a:t>
            </a:r>
            <a:endParaRPr lang="en-US" sz="1400" dirty="0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0DE38B61-1044-5045-C407-90F9D7BCB16C}"/>
              </a:ext>
            </a:extLst>
          </p:cNvPr>
          <p:cNvSpPr/>
          <p:nvPr/>
        </p:nvSpPr>
        <p:spPr>
          <a:xfrm>
            <a:off x="7943461" y="5103844"/>
            <a:ext cx="1374711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Gamma</a:t>
            </a:r>
            <a:endParaRPr lang="en-US" sz="1400" dirty="0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C0097AD-0AF2-7B7A-D9C1-2B6F6463430A}"/>
              </a:ext>
            </a:extLst>
          </p:cNvPr>
          <p:cNvSpPr/>
          <p:nvPr/>
        </p:nvSpPr>
        <p:spPr>
          <a:xfrm>
            <a:off x="9527835" y="5103844"/>
            <a:ext cx="1374711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Lambda</a:t>
            </a:r>
            <a:endParaRPr lang="en-US" sz="1400" dirty="0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52061ABD-5FD2-ABC9-75F2-74A0E7167EAC}"/>
              </a:ext>
            </a:extLst>
          </p:cNvPr>
          <p:cNvSpPr/>
          <p:nvPr/>
        </p:nvSpPr>
        <p:spPr>
          <a:xfrm>
            <a:off x="10645510" y="5797600"/>
            <a:ext cx="1604865" cy="429208"/>
          </a:xfrm>
          <a:prstGeom prst="ellipse">
            <a:avLst/>
          </a:prstGeom>
          <a:solidFill>
            <a:srgbClr val="21372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/>
              <a:t>Submuestra</a:t>
            </a:r>
            <a:endParaRPr lang="en-US" sz="1400" dirty="0"/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1B27E0B6-5F1A-A829-F98E-16CC481A519B}"/>
              </a:ext>
            </a:extLst>
          </p:cNvPr>
          <p:cNvCxnSpPr>
            <a:cxnSpLocks/>
            <a:stCxn id="7" idx="2"/>
            <a:endCxn id="94" idx="0"/>
          </p:cNvCxnSpPr>
          <p:nvPr/>
        </p:nvCxnSpPr>
        <p:spPr>
          <a:xfrm flipH="1">
            <a:off x="8630817" y="4404048"/>
            <a:ext cx="802432" cy="699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C8A2D1C0-AC6A-FBC9-7F94-F74C887B8EB0}"/>
              </a:ext>
            </a:extLst>
          </p:cNvPr>
          <p:cNvCxnSpPr>
            <a:cxnSpLocks/>
            <a:stCxn id="7" idx="2"/>
            <a:endCxn id="95" idx="0"/>
          </p:cNvCxnSpPr>
          <p:nvPr/>
        </p:nvCxnSpPr>
        <p:spPr>
          <a:xfrm>
            <a:off x="9433249" y="4404048"/>
            <a:ext cx="781942" cy="699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E585235C-3BFE-D195-7471-072FA5E81B86}"/>
              </a:ext>
            </a:extLst>
          </p:cNvPr>
          <p:cNvCxnSpPr>
            <a:stCxn id="7" idx="2"/>
            <a:endCxn id="93" idx="0"/>
          </p:cNvCxnSpPr>
          <p:nvPr/>
        </p:nvCxnSpPr>
        <p:spPr>
          <a:xfrm flipH="1">
            <a:off x="9412759" y="4404048"/>
            <a:ext cx="20490" cy="1399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A75831EF-1741-7DBB-A0CD-713AF6422108}"/>
              </a:ext>
            </a:extLst>
          </p:cNvPr>
          <p:cNvCxnSpPr>
            <a:cxnSpLocks/>
            <a:stCxn id="7" idx="1"/>
            <a:endCxn id="92" idx="0"/>
          </p:cNvCxnSpPr>
          <p:nvPr/>
        </p:nvCxnSpPr>
        <p:spPr>
          <a:xfrm flipH="1">
            <a:off x="7389102" y="4189444"/>
            <a:ext cx="933804" cy="1608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1D26085E-4DC7-9EB1-29D5-24D2EAF5792D}"/>
              </a:ext>
            </a:extLst>
          </p:cNvPr>
          <p:cNvCxnSpPr>
            <a:stCxn id="7" idx="3"/>
            <a:endCxn id="96" idx="0"/>
          </p:cNvCxnSpPr>
          <p:nvPr/>
        </p:nvCxnSpPr>
        <p:spPr>
          <a:xfrm>
            <a:off x="10543591" y="4189444"/>
            <a:ext cx="904352" cy="16081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98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7B688-B2D5-DC4C-708D-E212852BF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509" y="295587"/>
            <a:ext cx="6560977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rgbClr val="FF0000"/>
                </a:solidFill>
                <a:latin typeface="Kristen ITC" panose="03050502040202030202" pitchFamily="66" charset="0"/>
              </a:rPr>
              <a:t>Resultados</a:t>
            </a:r>
            <a:r>
              <a:rPr lang="en-US" sz="5400" kern="1200" dirty="0">
                <a:solidFill>
                  <a:srgbClr val="FF0000"/>
                </a:solidFill>
                <a:latin typeface="Kristen ITC" panose="03050502040202030202" pitchFamily="66" charset="0"/>
              </a:rPr>
              <a:t> Finales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A4A167-042A-439B-7938-229B8C04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 Importance</a:t>
            </a:r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044F0959-97A4-C7AE-AA63-E15C10A1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100" y="1863801"/>
            <a:ext cx="965379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6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210A5E-0FC3-00B8-481B-3ACA93C3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523" y="793282"/>
            <a:ext cx="4552950" cy="3632994"/>
          </a:xfrm>
        </p:spPr>
        <p:txBody>
          <a:bodyPr>
            <a:normAutofit lnSpcReduction="10000"/>
          </a:bodyPr>
          <a:lstStyle/>
          <a:p>
            <a:r>
              <a:rPr lang="es-419" dirty="0"/>
              <a:t>ROC – AUC score</a:t>
            </a:r>
          </a:p>
          <a:p>
            <a:pPr lvl="1"/>
            <a:r>
              <a:rPr lang="en-US" b="0" i="0" u="sng" dirty="0">
                <a:effectLst/>
                <a:latin typeface="Consolas" panose="020B0609020204030204" pitchFamily="49" charset="0"/>
              </a:rPr>
              <a:t>0.7305130358437989</a:t>
            </a:r>
            <a:endParaRPr lang="es-419" u="sng" dirty="0"/>
          </a:p>
          <a:p>
            <a:r>
              <a:rPr lang="es-419" dirty="0"/>
              <a:t>Reporte clasificación</a:t>
            </a:r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pPr lvl="1"/>
            <a:endParaRPr lang="es-419" dirty="0"/>
          </a:p>
          <a:p>
            <a:r>
              <a:rPr lang="es-419" dirty="0"/>
              <a:t>Matriz de confusión</a:t>
            </a:r>
          </a:p>
          <a:p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F665FD-B079-194C-3522-2B1E3B49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034" y="2087265"/>
            <a:ext cx="3482642" cy="16384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34AC26-E2B3-B79E-A918-C0E73167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582" y="4426276"/>
            <a:ext cx="2221545" cy="149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A2D3F6-4F1C-C6A9-7889-9D7F3A55E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12"/>
            <a:ext cx="5410200" cy="645459"/>
          </a:xfrm>
        </p:spPr>
        <p:txBody>
          <a:bodyPr/>
          <a:lstStyle/>
          <a:p>
            <a:r>
              <a:rPr lang="es-US" dirty="0"/>
              <a:t>Variables y categorías importantes</a:t>
            </a:r>
          </a:p>
        </p:txBody>
      </p:sp>
      <p:pic>
        <p:nvPicPr>
          <p:cNvPr id="4" name="Imagen 3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76853059-148D-7AFB-1D07-C4203710D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" y="1495425"/>
            <a:ext cx="3708000" cy="4104000"/>
          </a:xfrm>
          <a:prstGeom prst="rect">
            <a:avLst/>
          </a:prstGeom>
        </p:spPr>
      </p:pic>
      <p:pic>
        <p:nvPicPr>
          <p:cNvPr id="6" name="Imagen 5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1A1D8CA-8608-BC54-E0FF-2AEDBC7BC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000" y="1495425"/>
            <a:ext cx="3708000" cy="4104001"/>
          </a:xfrm>
          <a:prstGeom prst="rect">
            <a:avLst/>
          </a:prstGeom>
        </p:spPr>
      </p:pic>
      <p:pic>
        <p:nvPicPr>
          <p:cNvPr id="8" name="Imagen 7" descr="Gráfico, Gráfico de cajas y bigotes&#10;&#10;Descripción generada automáticamente">
            <a:extLst>
              <a:ext uri="{FF2B5EF4-FFF2-40B4-BE49-F238E27FC236}">
                <a16:creationId xmlns:a16="http://schemas.microsoft.com/office/drawing/2014/main" id="{3D0976F1-A8EF-863E-CFD8-109C95B413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322" y="1495425"/>
            <a:ext cx="3707999" cy="4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86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63BA21-02A0-9A22-A19E-C54995F037E6}"/>
              </a:ext>
            </a:extLst>
          </p:cNvPr>
          <p:cNvSpPr txBox="1"/>
          <p:nvPr/>
        </p:nvSpPr>
        <p:spPr>
          <a:xfrm>
            <a:off x="3267791" y="2497976"/>
            <a:ext cx="565641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s-419" sz="11500" b="1" dirty="0">
                <a:ln/>
                <a:solidFill>
                  <a:schemeClr val="accent3"/>
                </a:solidFill>
              </a:rPr>
              <a:t>GRACIAS</a:t>
            </a:r>
            <a:endParaRPr lang="en-US" sz="11500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0921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Panorámica</PresentationFormat>
  <Paragraphs>93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Inter</vt:lpstr>
      <vt:lpstr>Kristen ITC</vt:lpstr>
      <vt:lpstr>Tema de Office</vt:lpstr>
      <vt:lpstr>Prueba Oficina de Datos - Davivienda</vt:lpstr>
      <vt:lpstr>El Problema</vt:lpstr>
      <vt:lpstr>EDA (Exploratory Data Analysis)</vt:lpstr>
      <vt:lpstr>Presentación de PowerPoint</vt:lpstr>
      <vt:lpstr>Presentación de PowerPoint</vt:lpstr>
      <vt:lpstr>Procesamiento de Datos</vt:lpstr>
      <vt:lpstr>Entrenamiento del Modelo</vt:lpstr>
      <vt:lpstr>Resultados Preliminares</vt:lpstr>
      <vt:lpstr>Optimización Hiper parámetros y otros modelos</vt:lpstr>
      <vt:lpstr>Resultados Finales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 Oficina de Datos - Davivienda</dc:title>
  <dc:creator>Felipe Rojas</dc:creator>
  <cp:lastModifiedBy>Felipe Rojas</cp:lastModifiedBy>
  <cp:revision>6</cp:revision>
  <dcterms:created xsi:type="dcterms:W3CDTF">2022-06-16T15:43:52Z</dcterms:created>
  <dcterms:modified xsi:type="dcterms:W3CDTF">2022-06-16T23:09:53Z</dcterms:modified>
</cp:coreProperties>
</file>